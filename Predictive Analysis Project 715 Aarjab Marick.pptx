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3A5F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1F3A5F"/>
                </a:solidFill>
                <a:latin typeface="Arial"/>
              </a:rPr>
              <a:t>CV RMSE vs k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RMSE</c:v>
                </c:pt>
              </c:strCache>
            </c:strRef>
          </c:tx>
          <c:spPr>
            <a:ln w="38100" cap="flat">
              <a:solidFill>
                <a:srgbClr val="1F3A5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3A5F"/>
              </a:solidFill>
              <a:ln w="9525" cap="flat">
                <a:solidFill>
                  <a:srgbClr val="1F3A5F"/>
                </a:solidFill>
                <a:prstDash val="solid"/>
                <a:round/>
              </a:ln>
              <a:effectLst/>
            </c:spPr>
          </c:marker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1.42</c:v>
                </c:pt>
                <c:pt idx="1">
                  <c:v>1.3</c:v>
                </c:pt>
                <c:pt idx="2">
                  <c:v>1.22</c:v>
                </c:pt>
                <c:pt idx="3">
                  <c:v>1.1599999999999999</c:v>
                </c:pt>
                <c:pt idx="4">
                  <c:v>1.1200000000000001</c:v>
                </c:pt>
                <c:pt idx="5">
                  <c:v>1.0900000000000001</c:v>
                </c:pt>
                <c:pt idx="6">
                  <c:v>1.07</c:v>
                </c:pt>
                <c:pt idx="7">
                  <c:v>1.06</c:v>
                </c:pt>
                <c:pt idx="8">
                  <c:v>1.0549999999999999</c:v>
                </c:pt>
                <c:pt idx="9">
                  <c:v>1.06</c:v>
                </c:pt>
                <c:pt idx="10">
                  <c:v>1.07</c:v>
                </c:pt>
                <c:pt idx="11">
                  <c:v>1.08</c:v>
                </c:pt>
                <c:pt idx="12">
                  <c:v>1.1000000000000001</c:v>
                </c:pt>
                <c:pt idx="13">
                  <c:v>1.1100000000000001</c:v>
                </c:pt>
                <c:pt idx="14">
                  <c:v>1.1299999999999999</c:v>
                </c:pt>
                <c:pt idx="15">
                  <c:v>1.1399999999999999</c:v>
                </c:pt>
                <c:pt idx="16">
                  <c:v>1.1599999999999999</c:v>
                </c:pt>
                <c:pt idx="17">
                  <c:v>1.18</c:v>
                </c:pt>
                <c:pt idx="18">
                  <c:v>1.19</c:v>
                </c:pt>
                <c:pt idx="19">
                  <c:v>1.21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A8D-4783-BD37-C1389D5355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lang="en-IN" sz="1000" b="0" i="0" u="none" strike="noStrike">
                    <a:solidFill>
                      <a:srgbClr val="6B7280"/>
                    </a:solidFill>
                    <a:latin typeface="Arial"/>
                  </a:rPr>
                  <a:t>k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C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lang="en-IN" sz="1000" b="0" i="0" u="none" strike="noStrike">
                    <a:solidFill>
                      <a:srgbClr val="6B7280"/>
                    </a:solidFill>
                    <a:latin typeface="Arial"/>
                  </a:rPr>
                  <a:t>RMSE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3A5F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1F3A5F"/>
                </a:solidFill>
                <a:latin typeface="Arial"/>
              </a:rPr>
              <a:t>Test RMSE by model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RMSE</c:v>
                </c:pt>
              </c:strCache>
            </c:strRef>
          </c:tx>
          <c:spPr>
            <a:solidFill>
              <a:srgbClr val="1F3A5F">
                <a:alpha val="10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F3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B34-49A6-8961-F40D2A166147}"/>
              </c:ext>
            </c:extLst>
          </c:dPt>
          <c:dPt>
            <c:idx val="1"/>
            <c:invertIfNegative val="0"/>
            <c:bubble3D val="0"/>
            <c:spPr>
              <a:solidFill>
                <a:srgbClr val="1F3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B34-49A6-8961-F40D2A166147}"/>
              </c:ext>
            </c:extLst>
          </c:dPt>
          <c:dPt>
            <c:idx val="2"/>
            <c:invertIfNegative val="0"/>
            <c:bubble3D val="0"/>
            <c:spPr>
              <a:solidFill>
                <a:srgbClr val="1F3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B34-49A6-8961-F40D2A166147}"/>
              </c:ext>
            </c:extLst>
          </c:dPt>
          <c:dPt>
            <c:idx val="3"/>
            <c:invertIfNegative val="0"/>
            <c:bubble3D val="0"/>
            <c:spPr>
              <a:solidFill>
                <a:srgbClr val="C89B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B34-49A6-8961-F40D2A166147}"/>
              </c:ext>
            </c:extLst>
          </c:dPt>
          <c:dPt>
            <c:idx val="4"/>
            <c:invertIfNegative val="0"/>
            <c:bubble3D val="0"/>
            <c:spPr>
              <a:solidFill>
                <a:srgbClr val="1F3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B34-49A6-8961-F40D2A166147}"/>
              </c:ext>
            </c:extLst>
          </c:dPt>
          <c:dPt>
            <c:idx val="5"/>
            <c:invertIfNegative val="0"/>
            <c:bubble3D val="0"/>
            <c:spPr>
              <a:solidFill>
                <a:srgbClr val="1F3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B34-49A6-8961-F40D2A166147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OLS</c:v>
                </c:pt>
                <c:pt idx="1">
                  <c:v>Best Subset</c:v>
                </c:pt>
                <c:pt idx="2">
                  <c:v>Ridge</c:v>
                </c:pt>
                <c:pt idx="3">
                  <c:v>Lasso</c:v>
                </c:pt>
                <c:pt idx="4">
                  <c:v>Elastic Net</c:v>
                </c:pt>
                <c:pt idx="5">
                  <c:v>KNN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1.0820000000000001</c:v>
                </c:pt>
                <c:pt idx="1">
                  <c:v>1.079</c:v>
                </c:pt>
                <c:pt idx="2">
                  <c:v>1.0780000000000001</c:v>
                </c:pt>
                <c:pt idx="3">
                  <c:v>1.071</c:v>
                </c:pt>
                <c:pt idx="4">
                  <c:v>1.073</c:v>
                </c:pt>
                <c:pt idx="5">
                  <c:v>1.2150000000000001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B34-49A6-8961-F40D2A16614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25"/>
          <c:min val="1"/>
        </c:scaling>
        <c:delete val="0"/>
        <c:axPos val="l"/>
        <c:majorGridlines>
          <c:spPr>
            <a:ln w="6350" cap="flat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2651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89B3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77724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7830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Predicting Movie Revenue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548640" y="2468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i="1" dirty="0">
                <a:solidFill>
                  <a:srgbClr val="C89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Regression Models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0" y="3108960"/>
            <a:ext cx="2743200" cy="0"/>
          </a:xfrm>
          <a:prstGeom prst="line">
            <a:avLst/>
          </a:prstGeom>
          <a:noFill/>
          <a:ln w="19050">
            <a:solidFill>
              <a:srgbClr val="C89B3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33832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Aarjab Marick 715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 Project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TMDB 5000 Movie Dataset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r>
              <a:rPr lang="en-US" sz="1100" baseline="3000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110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May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Predict Movie Revenue?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E8EC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51206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Box-office revenue is the bottom-line outcome studios optimise for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Pre-release forecasts inform marketing spend and theatre allocations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and distributors price risk on individual titles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continuous target — ideal for comparing regression methods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TMDB data → fully reproducible without proprietary access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26480" y="1280160"/>
            <a:ext cx="2560320" cy="3108960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0" y="1280160"/>
            <a:ext cx="73152" cy="3108960"/>
          </a:xfrm>
          <a:prstGeom prst="rect">
            <a:avLst/>
          </a:prstGeom>
          <a:solidFill>
            <a:srgbClr val="C89B3C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55448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63640" y="2194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$42.3B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6263640" y="28803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box-office in a normal pre-pandemic year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263640" y="3703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few-percent forecasting edge is worth real money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48006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E8ECF0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801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TMDB 5000 — two CSV files merged on movie ID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1881554"/>
            <a:ext cx="3840480" cy="1828800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8" name="Shape 5"/>
          <p:cNvSpPr/>
          <p:nvPr/>
        </p:nvSpPr>
        <p:spPr>
          <a:xfrm>
            <a:off x="640080" y="1874520"/>
            <a:ext cx="3840480" cy="4572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965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tmdb_5000_movies.csv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237744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columns: budget, revenue, runtime, popularity, vote_average, vote_count, release_date …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columns: genres, keywords, production_companies, spoken_languages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63440" y="1874520"/>
            <a:ext cx="3840480" cy="1828800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12" name="Shape 9"/>
          <p:cNvSpPr/>
          <p:nvPr/>
        </p:nvSpPr>
        <p:spPr>
          <a:xfrm>
            <a:off x="4663440" y="1874520"/>
            <a:ext cx="3840480" cy="4572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3" name="Text 10"/>
          <p:cNvSpPr/>
          <p:nvPr/>
        </p:nvSpPr>
        <p:spPr>
          <a:xfrm>
            <a:off x="4800600" y="1965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tmdb_5000_credits.csv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800600" y="237744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columns: movie_id, title, cast, crew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cast and crew stored as nested JSON arrays — parsed via jsonlite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0080" y="3931920"/>
            <a:ext cx="7863840" cy="640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3931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4,803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merged rows  →  drop revenue=0 / budget=0  →  </a:t>
            </a:r>
            <a:r>
              <a:rPr lang="en-US" sz="18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~3,200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usable rows for modelling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57200" y="48006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Variable: log(Revenue)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E8EC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revenue spans 5+ orders of magnitude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Strongly right-skewed — handful of blockbusters dominate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log-transform compresses the tail, gives a near-normal target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assumptions of normal residuals + constant variance now hold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703320"/>
            <a:ext cx="3931920" cy="914400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subsequent models predict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40233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log(revenue)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93776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revenue (raw)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56048" y="1645920"/>
            <a:ext cx="329184" cy="960120"/>
          </a:xfrm>
          <a:prstGeom prst="rect">
            <a:avLst/>
          </a:prstGeom>
          <a:solidFill>
            <a:srgbClr val="3A5A85"/>
          </a:solidFill>
          <a:ln/>
        </p:spPr>
      </p:sp>
      <p:sp>
        <p:nvSpPr>
          <p:cNvPr id="11" name="Shape 9"/>
          <p:cNvSpPr/>
          <p:nvPr/>
        </p:nvSpPr>
        <p:spPr>
          <a:xfrm>
            <a:off x="5321808" y="1783080"/>
            <a:ext cx="329184" cy="822960"/>
          </a:xfrm>
          <a:prstGeom prst="rect">
            <a:avLst/>
          </a:prstGeom>
          <a:solidFill>
            <a:srgbClr val="3A5A85"/>
          </a:solidFill>
          <a:ln/>
        </p:spPr>
      </p:sp>
      <p:sp>
        <p:nvSpPr>
          <p:cNvPr id="12" name="Shape 10"/>
          <p:cNvSpPr/>
          <p:nvPr/>
        </p:nvSpPr>
        <p:spPr>
          <a:xfrm>
            <a:off x="5687568" y="2057400"/>
            <a:ext cx="329184" cy="548640"/>
          </a:xfrm>
          <a:prstGeom prst="rect">
            <a:avLst/>
          </a:prstGeom>
          <a:solidFill>
            <a:srgbClr val="3A5A85"/>
          </a:solidFill>
          <a:ln/>
        </p:spPr>
      </p:sp>
      <p:sp>
        <p:nvSpPr>
          <p:cNvPr id="13" name="Shape 11"/>
          <p:cNvSpPr/>
          <p:nvPr/>
        </p:nvSpPr>
        <p:spPr>
          <a:xfrm>
            <a:off x="6053328" y="2258568"/>
            <a:ext cx="329184" cy="347472"/>
          </a:xfrm>
          <a:prstGeom prst="rect">
            <a:avLst/>
          </a:prstGeom>
          <a:solidFill>
            <a:srgbClr val="3A5A85"/>
          </a:solidFill>
          <a:ln/>
        </p:spPr>
      </p:sp>
      <p:sp>
        <p:nvSpPr>
          <p:cNvPr id="14" name="Shape 12"/>
          <p:cNvSpPr/>
          <p:nvPr/>
        </p:nvSpPr>
        <p:spPr>
          <a:xfrm>
            <a:off x="6419088" y="2368296"/>
            <a:ext cx="329184" cy="237744"/>
          </a:xfrm>
          <a:prstGeom prst="rect">
            <a:avLst/>
          </a:prstGeom>
          <a:solidFill>
            <a:srgbClr val="3A5A85"/>
          </a:solidFill>
          <a:ln/>
        </p:spPr>
      </p:sp>
      <p:sp>
        <p:nvSpPr>
          <p:cNvPr id="15" name="Shape 13"/>
          <p:cNvSpPr/>
          <p:nvPr/>
        </p:nvSpPr>
        <p:spPr>
          <a:xfrm>
            <a:off x="6784848" y="2450592"/>
            <a:ext cx="329184" cy="155448"/>
          </a:xfrm>
          <a:prstGeom prst="rect">
            <a:avLst/>
          </a:prstGeom>
          <a:solidFill>
            <a:srgbClr val="3A5A85"/>
          </a:solidFill>
          <a:ln/>
        </p:spPr>
      </p:sp>
      <p:sp>
        <p:nvSpPr>
          <p:cNvPr id="16" name="Shape 14"/>
          <p:cNvSpPr/>
          <p:nvPr/>
        </p:nvSpPr>
        <p:spPr>
          <a:xfrm>
            <a:off x="7150608" y="2505456"/>
            <a:ext cx="329184" cy="100584"/>
          </a:xfrm>
          <a:prstGeom prst="rect">
            <a:avLst/>
          </a:prstGeom>
          <a:solidFill>
            <a:srgbClr val="3A5A85"/>
          </a:solidFill>
          <a:ln/>
        </p:spPr>
      </p:sp>
      <p:sp>
        <p:nvSpPr>
          <p:cNvPr id="17" name="Shape 15"/>
          <p:cNvSpPr/>
          <p:nvPr/>
        </p:nvSpPr>
        <p:spPr>
          <a:xfrm>
            <a:off x="7516368" y="2542032"/>
            <a:ext cx="329184" cy="64008"/>
          </a:xfrm>
          <a:prstGeom prst="rect">
            <a:avLst/>
          </a:prstGeom>
          <a:solidFill>
            <a:srgbClr val="3A5A85"/>
          </a:solidFill>
          <a:ln/>
        </p:spPr>
      </p:sp>
      <p:sp>
        <p:nvSpPr>
          <p:cNvPr id="18" name="Shape 16"/>
          <p:cNvSpPr/>
          <p:nvPr/>
        </p:nvSpPr>
        <p:spPr>
          <a:xfrm>
            <a:off x="7882128" y="2560320"/>
            <a:ext cx="329184" cy="45720"/>
          </a:xfrm>
          <a:prstGeom prst="rect">
            <a:avLst/>
          </a:prstGeom>
          <a:solidFill>
            <a:srgbClr val="3A5A85"/>
          </a:solidFill>
          <a:ln/>
        </p:spPr>
      </p:sp>
      <p:sp>
        <p:nvSpPr>
          <p:cNvPr id="19" name="Shape 17"/>
          <p:cNvSpPr/>
          <p:nvPr/>
        </p:nvSpPr>
        <p:spPr>
          <a:xfrm>
            <a:off x="8247888" y="2578608"/>
            <a:ext cx="329184" cy="27432"/>
          </a:xfrm>
          <a:prstGeom prst="rect">
            <a:avLst/>
          </a:prstGeom>
          <a:solidFill>
            <a:srgbClr val="3A5A85"/>
          </a:solidFill>
          <a:ln/>
        </p:spPr>
      </p:sp>
      <p:sp>
        <p:nvSpPr>
          <p:cNvPr id="20" name="Shape 18"/>
          <p:cNvSpPr/>
          <p:nvPr/>
        </p:nvSpPr>
        <p:spPr>
          <a:xfrm>
            <a:off x="4937760" y="2606040"/>
            <a:ext cx="3657600" cy="0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log(revenue)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56048" y="4270248"/>
            <a:ext cx="329184" cy="73152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23" name="Shape 21"/>
          <p:cNvSpPr/>
          <p:nvPr/>
        </p:nvSpPr>
        <p:spPr>
          <a:xfrm>
            <a:off x="5321808" y="4160520"/>
            <a:ext cx="329184" cy="182880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24" name="Shape 22"/>
          <p:cNvSpPr/>
          <p:nvPr/>
        </p:nvSpPr>
        <p:spPr>
          <a:xfrm>
            <a:off x="5687568" y="3959352"/>
            <a:ext cx="329184" cy="384048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25" name="Shape 23"/>
          <p:cNvSpPr/>
          <p:nvPr/>
        </p:nvSpPr>
        <p:spPr>
          <a:xfrm>
            <a:off x="6053328" y="3685032"/>
            <a:ext cx="329184" cy="658368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26" name="Shape 24"/>
          <p:cNvSpPr/>
          <p:nvPr/>
        </p:nvSpPr>
        <p:spPr>
          <a:xfrm>
            <a:off x="6419088" y="3447288"/>
            <a:ext cx="329184" cy="896112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27" name="Shape 25"/>
          <p:cNvSpPr/>
          <p:nvPr/>
        </p:nvSpPr>
        <p:spPr>
          <a:xfrm>
            <a:off x="6784848" y="3383280"/>
            <a:ext cx="329184" cy="960120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28" name="Shape 26"/>
          <p:cNvSpPr/>
          <p:nvPr/>
        </p:nvSpPr>
        <p:spPr>
          <a:xfrm>
            <a:off x="7150608" y="3520440"/>
            <a:ext cx="329184" cy="822960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29" name="Shape 27"/>
          <p:cNvSpPr/>
          <p:nvPr/>
        </p:nvSpPr>
        <p:spPr>
          <a:xfrm>
            <a:off x="7516368" y="3794760"/>
            <a:ext cx="329184" cy="548640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30" name="Shape 28"/>
          <p:cNvSpPr/>
          <p:nvPr/>
        </p:nvSpPr>
        <p:spPr>
          <a:xfrm>
            <a:off x="7882128" y="4069080"/>
            <a:ext cx="329184" cy="274320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31" name="Shape 29"/>
          <p:cNvSpPr/>
          <p:nvPr/>
        </p:nvSpPr>
        <p:spPr>
          <a:xfrm>
            <a:off x="8247888" y="4233672"/>
            <a:ext cx="329184" cy="109728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32" name="Shape 30"/>
          <p:cNvSpPr/>
          <p:nvPr/>
        </p:nvSpPr>
        <p:spPr>
          <a:xfrm>
            <a:off x="4937760" y="4343400"/>
            <a:ext cx="3657600" cy="0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8006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— Key Findings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E8EC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80160"/>
            <a:ext cx="3840480" cy="1554480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280160"/>
            <a:ext cx="73152" cy="1554480"/>
          </a:xfrm>
          <a:prstGeom prst="rect">
            <a:avLst/>
          </a:prstGeom>
          <a:solidFill>
            <a:srgbClr val="C89B3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4630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44475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↔ Revenue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19202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Strong, roughly linear relationship in log–log space.  The single most informative predictor.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3440" y="1280160"/>
            <a:ext cx="3840480" cy="1554480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11" name="Shape 8"/>
          <p:cNvSpPr/>
          <p:nvPr/>
        </p:nvSpPr>
        <p:spPr>
          <a:xfrm>
            <a:off x="4663440" y="1280160"/>
            <a:ext cx="73152" cy="1554480"/>
          </a:xfrm>
          <a:prstGeom prst="rect">
            <a:avLst/>
          </a:prstGeom>
          <a:solidFill>
            <a:srgbClr val="C89B3C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4630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144475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Effects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892040" y="19202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&amp; Adventure skew higher; Drama &amp; Documentary skew lower.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2971800"/>
            <a:ext cx="3840480" cy="1554480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16" name="Shape 12"/>
          <p:cNvSpPr/>
          <p:nvPr/>
        </p:nvSpPr>
        <p:spPr>
          <a:xfrm>
            <a:off x="640080" y="2971800"/>
            <a:ext cx="73152" cy="1554480"/>
          </a:xfrm>
          <a:prstGeom prst="rect">
            <a:avLst/>
          </a:prstGeom>
          <a:solidFill>
            <a:srgbClr val="C89B3C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1546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313639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Reach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68680" y="36118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English-language films average notably higher revenue — distribution reach.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663440" y="2971800"/>
            <a:ext cx="3840480" cy="1554480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21" name="Shape 16"/>
          <p:cNvSpPr/>
          <p:nvPr/>
        </p:nvSpPr>
        <p:spPr>
          <a:xfrm>
            <a:off x="4663440" y="2971800"/>
            <a:ext cx="73152" cy="1554480"/>
          </a:xfrm>
          <a:prstGeom prst="rect">
            <a:avLst/>
          </a:prstGeom>
          <a:solidFill>
            <a:srgbClr val="C89B3C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15468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49240" y="313639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Trend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4892040" y="36118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revenue rises after the late 1990s — inflation + globalisation.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57200" y="48006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Train/Test Split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E8ECF0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801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applied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169164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log(revenue), log(budget) — handle skew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genres (&lt; 30 films) → "Other"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languages → "Other"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release_year extracted from release_date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28016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9496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predictors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074920" y="169164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log_budget, runtime, popularity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vote_average, vote_count, release_year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cast_size, num_companies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+ language dummies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40080" y="3337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 train–test split  ·  set.seed(42)  ·  stratified on log_revenue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0080" y="3657600"/>
            <a:ext cx="6291072" cy="50292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3" name="Text 9"/>
          <p:cNvSpPr/>
          <p:nvPr/>
        </p:nvSpPr>
        <p:spPr>
          <a:xfrm>
            <a:off x="640080" y="3657600"/>
            <a:ext cx="6291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 ≈ 2,560 rows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931152" y="3657600"/>
            <a:ext cx="1572768" cy="502920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15" name="Text 11"/>
          <p:cNvSpPr/>
          <p:nvPr/>
        </p:nvSpPr>
        <p:spPr>
          <a:xfrm>
            <a:off x="6931152" y="36576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 ≈ 640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57200" y="48006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Regression &amp; Variable Selection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E8EC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34440"/>
            <a:ext cx="7863840" cy="640080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log(revenue) = β₀ + β₁ log(budget) + β₂ runtime + … + βₚ xₚ + ε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fit metrics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 /  Adjusted R²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  /  BIC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Mallows' Cp  =  RSS/σ̂² − n + 2p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RMSE  +  Test R²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2057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selection methods (regsubsets)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00600" y="242316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stepwise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stepwise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subset (exhaustive, nvmax = 15)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subset size by Cp / BIC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Consistently selected:  </a:t>
            </a:r>
            <a:r>
              <a:rPr lang="en-US" sz="12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log_budget · vote_count · popularity · runtime · release_year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Regularization: Ridge, Lasso, Elastic Net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E8EC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penalty to OLS — trade a little bias for lower variance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2606040" cy="2468880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00200"/>
            <a:ext cx="2606040" cy="4572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002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Ridge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9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 Σ βⱼ²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L₂ penalty.  Shrinks all coefficients smoothly toward zero.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1600200"/>
            <a:ext cx="2606040" cy="2468880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12" name="Shape 10"/>
          <p:cNvSpPr/>
          <p:nvPr/>
        </p:nvSpPr>
        <p:spPr>
          <a:xfrm>
            <a:off x="3383280" y="1600200"/>
            <a:ext cx="2606040" cy="4572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6002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Lasso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21945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9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 Σ |βⱼ|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66160" y="27889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L₁ penalty.  Sets some coefficients exactly to zero — auto feature selection.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600200"/>
            <a:ext cx="2606040" cy="2468880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17" name="Shape 15"/>
          <p:cNvSpPr/>
          <p:nvPr/>
        </p:nvSpPr>
        <p:spPr>
          <a:xfrm>
            <a:off x="6126480" y="1600200"/>
            <a:ext cx="2606040" cy="4572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16002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Elastic Net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17920" y="21945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9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 [α Σ|βⱼ| + (1−α) Σβⱼ²]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27889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Mixes L₁ and L₂.  α = 0.5 in this study.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251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chosen by 10-fold cross-validation  ·  glmnet  ·  alpha = 0 / 1 / 0.5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Regression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E8EC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7194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Non-parametric — no functional form assumed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at x₀ by averaging the k nearest training responses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Predictors centred + scaled (Euclidean distance is scale-sensitive)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tuned 1 → 20 via 5-fold CV in caret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k typically lands in the 8 – 12 range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931920"/>
            <a:ext cx="4114800" cy="640080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9319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ŷ(x₀) = (1/k) Σ yᵢ   for i ∈ Nₖ(x₀)</a:t>
            </a:r>
            <a:endParaRPr lang="en-US" sz="13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4937760" y="1280160"/>
          <a:ext cx="36576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48006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— Hit or Flop?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E8EC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4023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is_hit  =  1  if revenue &gt; median(revenue),  else  0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log-odds linearly in the predictors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glm(..., family = binomial)  on the same predictors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p = 0.5  →  confusion matrix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3657600"/>
            <a:ext cx="4023360" cy="914400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 link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9776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log( p / (1 − p) ) = β₀ + β₁ x₁ + … + βₚ xₚ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(test set)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645920"/>
          <a:ext cx="3474720" cy="13716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 FLOP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 HIT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FLOP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HIT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Shape 8"/>
          <p:cNvSpPr/>
          <p:nvPr/>
        </p:nvSpPr>
        <p:spPr>
          <a:xfrm>
            <a:off x="5029200" y="3200400"/>
            <a:ext cx="1097280" cy="77724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0" y="32461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9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83.9%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029200" y="3611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217920" y="3200400"/>
            <a:ext cx="1097280" cy="77724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0" y="32461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9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85.0%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217920" y="3611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406640" y="3200400"/>
            <a:ext cx="1097280" cy="77724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8" name="Text 15"/>
          <p:cNvSpPr/>
          <p:nvPr/>
        </p:nvSpPr>
        <p:spPr>
          <a:xfrm>
            <a:off x="7406640" y="32461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9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82.8%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406640" y="3611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029200" y="4069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(illustrative — exact values from your knit)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57200" y="48006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E8ECF0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430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143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Test RMSE is better — Lasso typically wins this study</a:t>
            </a:r>
            <a:endParaRPr lang="en-US" sz="13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40080" y="1600200"/>
          <a:ext cx="475488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600200"/>
          <a:ext cx="3017520" cy="25603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Subset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9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9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9B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 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640080" y="4434840"/>
            <a:ext cx="7955280" cy="365760"/>
          </a:xfrm>
          <a:prstGeom prst="rect">
            <a:avLst/>
          </a:prstGeom>
          <a:solidFill>
            <a:srgbClr val="152A47"/>
          </a:solidFill>
          <a:ln/>
        </p:spPr>
      </p:sp>
      <p:sp>
        <p:nvSpPr>
          <p:cNvPr id="10" name="Text 5"/>
          <p:cNvSpPr/>
          <p:nvPr/>
        </p:nvSpPr>
        <p:spPr>
          <a:xfrm>
            <a:off x="640080" y="44348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Winner:  </a:t>
            </a:r>
            <a:r>
              <a:rPr lang="en-US" sz="13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Regression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best Test RMSE  +  built-in feature selection  +  most interpretable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457200" y="48006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8" name="Text 7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371600" cy="0"/>
          </a:xfrm>
          <a:prstGeom prst="line">
            <a:avLst/>
          </a:prstGeom>
          <a:noFill/>
          <a:ln w="19050">
            <a:solidFill>
              <a:srgbClr val="C89B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2606040" cy="2743200"/>
          </a:xfrm>
          <a:prstGeom prst="rect">
            <a:avLst/>
          </a:prstGeom>
          <a:solidFill>
            <a:srgbClr val="152A4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71600"/>
            <a:ext cx="2606040" cy="45720"/>
          </a:xfrm>
          <a:prstGeom prst="rect">
            <a:avLst/>
          </a:prstGeom>
          <a:solidFill>
            <a:srgbClr val="C89B3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0020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600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9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Model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214884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regression on log(revenue) — strong test fit and built-in feature selection.  OLS competitive once response is log-transformed.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19272" y="1371600"/>
            <a:ext cx="2606040" cy="2743200"/>
          </a:xfrm>
          <a:prstGeom prst="rect">
            <a:avLst/>
          </a:prstGeom>
          <a:solidFill>
            <a:srgbClr val="152A47"/>
          </a:solidFill>
          <a:ln/>
        </p:spPr>
      </p:sp>
      <p:sp>
        <p:nvSpPr>
          <p:cNvPr id="11" name="Shape 8"/>
          <p:cNvSpPr/>
          <p:nvPr/>
        </p:nvSpPr>
        <p:spPr>
          <a:xfrm>
            <a:off x="3319272" y="1371600"/>
            <a:ext cx="2606040" cy="45720"/>
          </a:xfrm>
          <a:prstGeom prst="rect">
            <a:avLst/>
          </a:prstGeom>
          <a:solidFill>
            <a:srgbClr val="C89B3C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152" y="160020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50792" y="1600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9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Drivers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502152" y="214884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log(budget), vote_count, popularity, runtime, release_year.  Most genre &amp; language dummies have small effects after these are controlled for.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89904" y="1371600"/>
            <a:ext cx="2606040" cy="2743200"/>
          </a:xfrm>
          <a:prstGeom prst="rect">
            <a:avLst/>
          </a:prstGeom>
          <a:solidFill>
            <a:srgbClr val="152A47"/>
          </a:solidFill>
          <a:ln/>
        </p:spPr>
      </p:sp>
      <p:sp>
        <p:nvSpPr>
          <p:cNvPr id="16" name="Shape 12"/>
          <p:cNvSpPr/>
          <p:nvPr/>
        </p:nvSpPr>
        <p:spPr>
          <a:xfrm>
            <a:off x="6089904" y="1371600"/>
            <a:ext cx="2606040" cy="45720"/>
          </a:xfrm>
          <a:prstGeom prst="rect">
            <a:avLst/>
          </a:prstGeom>
          <a:solidFill>
            <a:srgbClr val="C89B3C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160020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21424" y="1600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9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272784" y="214884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marketing-spend or opening-weekend data.  Selection bias toward well-known films.  No coverage of post-2018 OTT release dynamics.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48640" y="4297680"/>
            <a:ext cx="8046720" cy="502920"/>
          </a:xfrm>
          <a:prstGeom prst="rect">
            <a:avLst/>
          </a:prstGeom>
          <a:solidFill>
            <a:srgbClr val="C89B3C"/>
          </a:solidFill>
          <a:ln/>
        </p:spPr>
        <p:txBody>
          <a:bodyPr/>
          <a:lstStyle/>
          <a:p>
            <a:r>
              <a:rPr lang="en-US" dirty="0"/>
              <a:t>Author: Aarjab Marick, 715</a:t>
            </a:r>
            <a:endParaRPr lang="en-IN" dirty="0"/>
          </a:p>
        </p:txBody>
      </p:sp>
      <p:sp>
        <p:nvSpPr>
          <p:cNvPr id="21" name="Text 16"/>
          <p:cNvSpPr/>
          <p:nvPr/>
        </p:nvSpPr>
        <p:spPr>
          <a:xfrm>
            <a:off x="548640" y="42976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548640" y="4846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996</Words>
  <Application>Microsoft Office PowerPoint</Application>
  <PresentationFormat>On-screen Show (16:9)</PresentationFormat>
  <Paragraphs>169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Movie Revenue Using Regression Models</dc:title>
  <dc:subject>PptxGenJS Presentation</dc:subject>
  <dc:creator>Aarjab</dc:creator>
  <cp:lastModifiedBy>Aarjab Marick</cp:lastModifiedBy>
  <cp:revision>2</cp:revision>
  <dcterms:created xsi:type="dcterms:W3CDTF">2026-05-08T18:00:10Z</dcterms:created>
  <dcterms:modified xsi:type="dcterms:W3CDTF">2026-05-08T18:31:00Z</dcterms:modified>
</cp:coreProperties>
</file>